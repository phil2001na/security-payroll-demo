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91695" cy="109728"/>
          </a:xfrm>
          <a:prstGeom prst="rect">
            <a:avLst/>
          </a:prstGeom>
          <a:solidFill>
            <a:srgbClr val="F2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2A41D"/>
                </a:solidFill>
                <a:latin typeface="Calibri"/>
              </a:rPr>
              <a:t>DEMO PAYROLL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Payroll, Workforce &amp; Accounting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Built for Namibia's Security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7CEDA"/>
                </a:solidFill>
                <a:latin typeface="Calibri"/>
              </a:rPr>
              <a:t>One platform for compliant payroll, site scheduling, client invoicing and live financials.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6677"/>
                </a:solidFill>
                <a:latin typeface="Calibri"/>
              </a:rPr>
              <a:t>Live demo tenant: Apex Shield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B33"/>
                </a:solidFill>
                <a:latin typeface="Calibri"/>
              </a:rPr>
              <a:t>Security companies run payroll on spreadsheets—and it's costing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700" b="1">
                <a:solidFill>
                  <a:srgbClr val="F2A41D"/>
                </a:solidFill>
              </a:rPr>
              <a:t>■  </a:t>
            </a:r>
            <a:r>
              <a:rPr sz="1700" b="1">
                <a:solidFill>
                  <a:srgbClr val="0F1B33"/>
                </a:solidFill>
              </a:rPr>
              <a:t>Compliance risk. </a:t>
            </a:r>
            <a:r>
              <a:rPr sz="1700">
                <a:solidFill>
                  <a:srgbClr val="0F1B33"/>
                </a:solidFill>
              </a:rPr>
              <a:t>Minimum wage, SSC contributions, PAYE thresholds and the 70hr/week overtime cap (s.17(3)) are easy to get wrong manually.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F2A41D"/>
                </a:solidFill>
              </a:rPr>
              <a:t>■  </a:t>
            </a:r>
            <a:r>
              <a:rPr sz="1700" b="1">
                <a:solidFill>
                  <a:srgbClr val="0F1B33"/>
                </a:solidFill>
              </a:rPr>
              <a:t>No site-level visibility. </a:t>
            </a:r>
            <a:r>
              <a:rPr sz="1700">
                <a:solidFill>
                  <a:srgbClr val="0F1B33"/>
                </a:solidFill>
              </a:rPr>
              <a:t>Guards rotate across dozens of client sites; spreadsheets can't track schedules, attendance and disciplinary history together.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F2A41D"/>
                </a:solidFill>
              </a:rPr>
              <a:t>■  </a:t>
            </a:r>
            <a:r>
              <a:rPr sz="1700" b="1">
                <a:solidFill>
                  <a:srgbClr val="0F1B33"/>
                </a:solidFill>
              </a:rPr>
              <a:t>Disconnected finances. </a:t>
            </a:r>
            <a:r>
              <a:rPr sz="1700">
                <a:solidFill>
                  <a:srgbClr val="0F1B33"/>
                </a:solidFill>
              </a:rPr>
              <a:t>Payroll, client invoicing and the general ledger live in separate tools — nobody has a real-time view of cash, AR or margins.</a:t>
            </a:r>
          </a:p>
          <a:p>
            <a:pPr>
              <a:spcAft>
                <a:spcPts val="1800"/>
              </a:spcAft>
            </a:pPr>
            <a:r>
              <a:rPr sz="1700" b="1">
                <a:solidFill>
                  <a:srgbClr val="F2A41D"/>
                </a:solidFill>
              </a:rPr>
              <a:t>■  </a:t>
            </a:r>
            <a:r>
              <a:rPr sz="1700" b="1">
                <a:solidFill>
                  <a:srgbClr val="0F1B33"/>
                </a:solidFill>
              </a:rPr>
              <a:t>Slow, error-prone payslips. </a:t>
            </a:r>
            <a:r>
              <a:rPr sz="1700">
                <a:solidFill>
                  <a:srgbClr val="0F1B33"/>
                </a:solidFill>
              </a:rPr>
              <a:t>Manual tax and deduction calculations mean payday delays and disputes.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B33"/>
                </a:solidFill>
                <a:latin typeface="Calibri"/>
              </a:rPr>
              <a:t>One system: payroll, operations and accounting — fully connected.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>
                <a:solidFill>
                  <a:srgbClr val="0F1B33"/>
                </a:solidFill>
              </a:rPr>
              <a:t>Live operational dashboard across employees, sites and pay periods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>
                <a:solidFill>
                  <a:srgbClr val="0F1B33"/>
                </a:solidFill>
              </a:rPr>
              <a:t>Guided 7-step wizard: constants → sites → employees → schedule → attendance → payroll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>
                <a:solidFill>
                  <a:srgbClr val="0F1B33"/>
                </a:solidFill>
              </a:rPr>
              <a:t>Real-time compliance reference built into every screen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>
                <a:solidFill>
                  <a:srgbClr val="0F1B33"/>
                </a:solidFill>
              </a:rPr>
              <a:t>Role-based access for payroll, accounting and executive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200275"/>
            <a:ext cx="5486400" cy="34632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45995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WORKFORCE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1B33"/>
                </a:solidFill>
                <a:latin typeface="Calibri"/>
              </a:rPr>
              <a:t>Employees and client sites, organized from day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71700"/>
            <a:ext cx="5577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mploy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7420"/>
            <a:ext cx="5486400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72200" y="2171700"/>
            <a:ext cx="5577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1742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WORKFORCE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1B33"/>
                </a:solidFill>
                <a:latin typeface="Calibri"/>
              </a:rPr>
              <a:t>Shift scheduling and attendance, feeding straight into payroll.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71700"/>
            <a:ext cx="5577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7420"/>
            <a:ext cx="5486400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72200" y="2171700"/>
            <a:ext cx="5577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1742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PAYROLL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B33"/>
                </a:solidFill>
                <a:latin typeface="Calibri"/>
              </a:rPr>
              <a:t>Compliant payroll runs, calculated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PAYE &amp; SSC handled. </a:t>
            </a:r>
            <a:r>
              <a:rPr sz="1600">
                <a:solidFill>
                  <a:srgbClr val="0F1B33"/>
                </a:solidFill>
              </a:rPr>
              <a:t>Tax thresholds and social security contributions calculated per employee, every pay period.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Overtime cap enforced. </a:t>
            </a:r>
            <a:r>
              <a:rPr sz="1600">
                <a:solidFill>
                  <a:srgbClr val="0F1B33"/>
                </a:solidFill>
              </a:rPr>
              <a:t>70hr/week cap (s.17(3)) tracked automatically against logged attendance.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One-click payslips. </a:t>
            </a:r>
            <a:r>
              <a:rPr sz="1600">
                <a:solidFill>
                  <a:srgbClr val="0F1B33"/>
                </a:solidFill>
              </a:rPr>
              <a:t>Finalizing a pay period generates payslips and posts straight to the ledger.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Full audit trail. </a:t>
            </a:r>
            <a:r>
              <a:rPr sz="1600">
                <a:solidFill>
                  <a:srgbClr val="0F1B33"/>
                </a:solidFill>
              </a:rPr>
              <a:t>Every pay run, adjustment and approval is logged for compliance review.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200275"/>
            <a:ext cx="5486400" cy="34632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yro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45995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CLIENT BILLING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F1B33"/>
                </a:solidFill>
                <a:latin typeface="Calibri"/>
              </a:rPr>
              <a:t>Clients, sites and invoices — connected end to end.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71700"/>
            <a:ext cx="5577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7420"/>
            <a:ext cx="5486400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172200" y="2171700"/>
            <a:ext cx="557784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vo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17420"/>
            <a:ext cx="5486400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035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B33"/>
                </a:solidFill>
                <a:latin typeface="Calibri"/>
              </a:rPr>
              <a:t>A live double-entry ledger — not a spreadsheet.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Auto-posted. </a:t>
            </a:r>
            <a:r>
              <a:rPr sz="1600">
                <a:solidFill>
                  <a:srgbClr val="0F1B33"/>
                </a:solidFill>
              </a:rPr>
              <a:t>Invoices, payments and finalized payroll post to the ledger automatically — AR, AP, wages payable, tax control accounts.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Real-time P&amp;L. </a:t>
            </a:r>
            <a:r>
              <a:rPr sz="1600">
                <a:solidFill>
                  <a:srgbClr val="0F1B33"/>
                </a:solidFill>
              </a:rPr>
              <a:t>Revenue, expenses and net profit visible at a glance, always current.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Trial balance &amp; AR aging. </a:t>
            </a:r>
            <a:r>
              <a:rPr sz="1600">
                <a:solidFill>
                  <a:srgbClr val="0F1B33"/>
                </a:solidFill>
              </a:rPr>
              <a:t>Built-in reports for month-end close and collections follow-up.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0F1B33"/>
                </a:solidFill>
              </a:rPr>
              <a:t>AP &amp; vendor bills. </a:t>
            </a:r>
            <a:r>
              <a:rPr sz="1600">
                <a:solidFill>
                  <a:srgbClr val="0F1B33"/>
                </a:solidFill>
              </a:rPr>
              <a:t>Track payables alongside receivables in the same ledger.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200275"/>
            <a:ext cx="5486400" cy="34632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counting-pn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45995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AI EXECUTIVE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Calibri"/>
              </a:rPr>
              <a:t>Ask your business a question — get a straight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E3E7EE"/>
                </a:solidFill>
              </a:rPr>
              <a:t>Plain-language queries. </a:t>
            </a:r>
            <a:r>
              <a:rPr sz="1600">
                <a:solidFill>
                  <a:srgbClr val="E3E7EE"/>
                </a:solidFill>
              </a:rPr>
              <a:t>“What's our margin on Apex contracts this month?” — answered from live financial and operational data.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E3E7EE"/>
                </a:solidFill>
              </a:rPr>
              <a:t>Tenant-aware. </a:t>
            </a:r>
            <a:r>
              <a:rPr sz="1600">
                <a:solidFill>
                  <a:srgbClr val="E3E7EE"/>
                </a:solidFill>
              </a:rPr>
              <a:t>Every answer is scoped to your company's real numbers, not generic advice.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F2A41D"/>
                </a:solidFill>
              </a:rPr>
              <a:t>■  </a:t>
            </a:r>
            <a:r>
              <a:rPr sz="1600" b="1">
                <a:solidFill>
                  <a:srgbClr val="E3E7EE"/>
                </a:solidFill>
              </a:rPr>
              <a:t>Executive-only. </a:t>
            </a:r>
            <a:r>
              <a:rPr sz="1600">
                <a:solidFill>
                  <a:srgbClr val="E3E7EE"/>
                </a:solidFill>
              </a:rPr>
              <a:t>Reserved for CEO/admin roles, alongside full clients and P&amp;L visibility.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200275"/>
            <a:ext cx="5486400" cy="346329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245995"/>
            <a:ext cx="5394960" cy="3371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2A41D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F1B33"/>
                </a:solidFill>
                <a:latin typeface="Calibri"/>
              </a:rPr>
              <a:t>Less risk, less admin, more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20440" cy="329184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20440" cy="109728"/>
          </a:xfrm>
          <a:prstGeom prst="rect">
            <a:avLst/>
          </a:prstGeom>
          <a:solidFill>
            <a:srgbClr val="F2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1B33"/>
                </a:solidFill>
                <a:latin typeface="Calibri"/>
              </a:rPr>
              <a:t>Compliance 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677"/>
                </a:solidFill>
                <a:latin typeface="Calibri"/>
              </a:rPr>
              <a:t>Statutory rates and caps are encoded once, applied every pay run.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20240"/>
            <a:ext cx="3520440" cy="329184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20240"/>
            <a:ext cx="3520440" cy="109728"/>
          </a:xfrm>
          <a:prstGeom prst="rect">
            <a:avLst/>
          </a:prstGeom>
          <a:solidFill>
            <a:srgbClr val="F2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1B33"/>
                </a:solidFill>
                <a:latin typeface="Calibri"/>
              </a:rPr>
              <a:t>Hours saved monthly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546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677"/>
                </a:solidFill>
                <a:latin typeface="Calibri"/>
              </a:rPr>
              <a:t>No more manual payslip math or reconciling three separate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20240"/>
            <a:ext cx="3520440" cy="329184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E2E6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920240"/>
            <a:ext cx="3520440" cy="109728"/>
          </a:xfrm>
          <a:prstGeom prst="rect">
            <a:avLst/>
          </a:prstGeom>
          <a:solidFill>
            <a:srgbClr val="F2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31720"/>
            <a:ext cx="2971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0F1B33"/>
                </a:solidFill>
                <a:latin typeface="Calibri"/>
              </a:rPr>
              <a:t>Real-time financial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15468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B6677"/>
                </a:solidFill>
                <a:latin typeface="Calibri"/>
              </a:rPr>
              <a:t>Revenue, AR and margins visible the moment work is invoiced.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A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FFFFFF"/>
                </a:solidFill>
                <a:latin typeface="Calibri"/>
              </a:rPr>
              <a:t>Let's set up your security company on this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7CEDA"/>
                </a:solidFill>
                <a:latin typeface="Calibri"/>
              </a:rPr>
              <a:t>Payroll, scheduling, client invoicing and live financials — in one place, from day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677"/>
                </a:solidFill>
                <a:latin typeface="Calibri"/>
              </a:rPr>
              <a:t>Demo Payroll System · Apex Shield Security demo tenant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